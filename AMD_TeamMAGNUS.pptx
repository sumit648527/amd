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Lst>
  <p:sldSz cx="9144000" cy="5143500" type="screen16x9"/>
  <p:notesSz cx="6858000" cy="9144000"/>
  <p:embeddedFontLst>
    <p:embeddedFont>
      <p:font typeface="Poppins" panose="00000500000000000000" pitchFamily="2"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7fa3dcd40f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7fa3dcd40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7fa3dcd40f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7fa3dcd40f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7fa3dcd40f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7fa3dcd40f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7fa3dcd40f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7fa3dcd40f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7fa3dcd40f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7fa3dcd40f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7fa3dcd40f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7fa3dcd40f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7fa3dcd40f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7fa3dcd40f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7fa3dcd40f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7fa3dcd40f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7fa3dcd40f_0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7fa3dcd40f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7fa3dcd40f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7fa3dcd40f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7fa3dcd40f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7fa3dcd40f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fa3dcd40f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7fa3dcd40f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7fa3dcd40f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7fa3dcd40f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Sumit648527/AMD"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hyperlink" Target="https://drive.google.com/drive/folders/1jiCzmENKc11uaTdsBxFibxbZekCuKcde?usp=sharing"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56" name="Google Shape;56;p13" title="AMD.PS.S1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57" name="Google Shape;57;p13"/>
          <p:cNvSpPr txBox="1"/>
          <p:nvPr/>
        </p:nvSpPr>
        <p:spPr>
          <a:xfrm>
            <a:off x="-119480" y="3080050"/>
            <a:ext cx="3000000" cy="461700"/>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0"/>
              </a:spcBef>
              <a:spcAft>
                <a:spcPts val="0"/>
              </a:spcAft>
              <a:buNone/>
            </a:pPr>
            <a:r>
              <a:rPr lang="en-GB" sz="1800" b="1" dirty="0">
                <a:solidFill>
                  <a:schemeClr val="dk1"/>
                </a:solidFill>
                <a:latin typeface="Poppins"/>
                <a:ea typeface="Poppins"/>
                <a:cs typeface="Poppins"/>
                <a:sym typeface="Poppins"/>
              </a:rPr>
              <a:t>Team Details</a:t>
            </a:r>
            <a:endParaRPr sz="1800" dirty="0">
              <a:latin typeface="Poppins"/>
              <a:ea typeface="Poppins"/>
              <a:cs typeface="Poppins"/>
              <a:sym typeface="Poppins"/>
            </a:endParaRPr>
          </a:p>
        </p:txBody>
      </p:sp>
      <p:sp>
        <p:nvSpPr>
          <p:cNvPr id="58" name="Google Shape;58;p13"/>
          <p:cNvSpPr txBox="1"/>
          <p:nvPr/>
        </p:nvSpPr>
        <p:spPr>
          <a:xfrm>
            <a:off x="0" y="3425634"/>
            <a:ext cx="9197372" cy="1918957"/>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Clr>
                <a:schemeClr val="dk1"/>
              </a:buClr>
              <a:buSzPts val="1400"/>
              <a:buFont typeface="Poppins"/>
              <a:buChar char="➔"/>
            </a:pPr>
            <a:r>
              <a:rPr lang="en-GB" dirty="0">
                <a:solidFill>
                  <a:schemeClr val="dk1"/>
                </a:solidFill>
                <a:latin typeface="Poppins"/>
                <a:ea typeface="Poppins"/>
                <a:cs typeface="Poppins"/>
                <a:sym typeface="Poppins"/>
              </a:rPr>
              <a:t>Team name – </a:t>
            </a:r>
            <a:r>
              <a:rPr lang="en-GB" dirty="0" err="1">
                <a:solidFill>
                  <a:schemeClr val="dk1"/>
                </a:solidFill>
                <a:latin typeface="Poppins"/>
                <a:ea typeface="Poppins"/>
                <a:cs typeface="Poppins"/>
                <a:sym typeface="Poppins"/>
              </a:rPr>
              <a:t>TeamMAGNUS</a:t>
            </a:r>
            <a:endParaRPr dirty="0">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Char char="➔"/>
            </a:pPr>
            <a:r>
              <a:rPr lang="en-GB" dirty="0">
                <a:solidFill>
                  <a:schemeClr val="dk1"/>
                </a:solidFill>
                <a:latin typeface="Poppins"/>
                <a:ea typeface="Poppins"/>
                <a:cs typeface="Poppins"/>
                <a:sym typeface="Poppins"/>
              </a:rPr>
              <a:t>Team leader name – Sumit Mondal</a:t>
            </a:r>
            <a:endParaRPr dirty="0">
              <a:solidFill>
                <a:schemeClr val="dk1"/>
              </a:solidFill>
              <a:latin typeface="Poppins"/>
              <a:ea typeface="Poppins"/>
              <a:cs typeface="Poppins"/>
              <a:sym typeface="Poppins"/>
            </a:endParaRPr>
          </a:p>
          <a:p>
            <a:pPr marL="457200" indent="-317500">
              <a:lnSpc>
                <a:spcPct val="115000"/>
              </a:lnSpc>
              <a:buClr>
                <a:schemeClr val="dk1"/>
              </a:buClr>
              <a:buSzPts val="1400"/>
              <a:buFont typeface="Poppins"/>
              <a:buChar char="➔"/>
            </a:pPr>
            <a:r>
              <a:rPr lang="en-GB" dirty="0">
                <a:solidFill>
                  <a:schemeClr val="dk1"/>
                </a:solidFill>
                <a:latin typeface="Poppins"/>
                <a:ea typeface="Poppins"/>
                <a:cs typeface="Poppins"/>
                <a:sym typeface="Poppins"/>
              </a:rPr>
              <a:t>Problem Statement - </a:t>
            </a:r>
            <a:r>
              <a:rPr lang="en-US" dirty="0"/>
              <a:t>Travelers often use multiple disconnected apps for navigation, weather updates, traffic monitoring, accommodation booking, restaurant search, fuel stations, mechanic support, and sightseeing discovery. Existing platforms do not integrate all travel needs into a single intelligent ecosystem, leading to inefficient planning, safety risks, and missed exploration opportunities along travel routes.</a:t>
            </a:r>
          </a:p>
          <a:p>
            <a:pPr marL="457200" lvl="0" indent="-317500">
              <a:lnSpc>
                <a:spcPct val="115000"/>
              </a:lnSpc>
              <a:buClr>
                <a:schemeClr val="dk1"/>
              </a:buClr>
              <a:buSzPts val="1400"/>
              <a:buFont typeface="Poppins"/>
              <a:buChar char="➔"/>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dirty="0">
                <a:latin typeface="Poppins"/>
                <a:ea typeface="Poppins"/>
                <a:cs typeface="Poppins"/>
                <a:sym typeface="Poppins"/>
              </a:rPr>
              <a:t>Brief about the idea</a:t>
            </a:r>
            <a:endParaRPr sz="1620" b="1" dirty="0">
              <a:latin typeface="Poppins"/>
              <a:ea typeface="Poppins"/>
              <a:cs typeface="Poppins"/>
              <a:sym typeface="Poppins"/>
            </a:endParaRPr>
          </a:p>
        </p:txBody>
      </p:sp>
      <p:sp>
        <p:nvSpPr>
          <p:cNvPr id="64" name="Google Shape;64;p14"/>
          <p:cNvSpPr txBox="1">
            <a:spLocks noGrp="1"/>
          </p:cNvSpPr>
          <p:nvPr>
            <p:ph type="subTitle" idx="1"/>
          </p:nvPr>
        </p:nvSpPr>
        <p:spPr>
          <a:xfrm>
            <a:off x="0" y="1192175"/>
            <a:ext cx="8832300" cy="3525000"/>
          </a:xfrm>
          <a:prstGeom prst="rect">
            <a:avLst/>
          </a:prstGeom>
        </p:spPr>
        <p:txBody>
          <a:bodyPr spcFirstLastPara="1" wrap="square" lIns="91425" tIns="91425" rIns="91425" bIns="91425" anchor="t" anchorCtr="0">
            <a:normAutofit lnSpcReduction="10000"/>
          </a:bodyPr>
          <a:lstStyle/>
          <a:p>
            <a:pPr algn="l">
              <a:buFont typeface="Arial" panose="020B0604020202020204" pitchFamily="34" charset="0"/>
              <a:buChar char="•"/>
            </a:pPr>
            <a:r>
              <a:rPr lang="en-US" sz="1400" dirty="0"/>
              <a:t>Our solution is an AI-powered smart travel ecosystem designed for all types of travelers — including bike riders, car travelers, road-trippers, campus groups, and solo explorers.</a:t>
            </a:r>
          </a:p>
          <a:p>
            <a:pPr algn="just">
              <a:buFont typeface="Arial" panose="020B0604020202020204" pitchFamily="34" charset="0"/>
              <a:buChar char="•"/>
            </a:pPr>
            <a:endParaRPr lang="en-US" sz="1400" dirty="0"/>
          </a:p>
          <a:p>
            <a:pPr algn="just">
              <a:buFont typeface="Arial" panose="020B0604020202020204" pitchFamily="34" charset="0"/>
              <a:buChar char="•"/>
            </a:pPr>
            <a:r>
              <a:rPr lang="en-US" sz="1400" dirty="0"/>
              <a:t>The platform integrates real-time weather updates, traffic analysis, fuel prediction, nearby stay recommendations, restaurant suggestions based on time of day (breakfast, lunch, evening snacks, dinner), nearby mechanic and fuel stations, safety-based route risk scoring, and dynamic sightseeing discovery along travel routes — all within a single intelligent application.</a:t>
            </a:r>
          </a:p>
          <a:p>
            <a:pPr algn="just"/>
            <a:endParaRPr lang="en-US" sz="1400" dirty="0"/>
          </a:p>
          <a:p>
            <a:pPr algn="just">
              <a:buFont typeface="Arial" panose="020B0604020202020204" pitchFamily="34" charset="0"/>
              <a:buChar char="•"/>
            </a:pPr>
            <a:r>
              <a:rPr lang="en-US" sz="1400" dirty="0"/>
              <a:t>Unlike traditional navigation apps, our system acts as a complete travel assistant by combining AI-driven optimization with community-powered insights. It ensures safer journeys, smarter budgeting, and enriched exploration of attractions located along the road.</a:t>
            </a:r>
          </a:p>
          <a:p>
            <a:pPr algn="just">
              <a:buFont typeface="Arial" panose="020B0604020202020204" pitchFamily="34" charset="0"/>
              <a:buChar char="•"/>
            </a:pPr>
            <a:endParaRPr lang="en-US" sz="1400" dirty="0"/>
          </a:p>
          <a:p>
            <a:pPr algn="just">
              <a:buFont typeface="Arial" panose="020B0604020202020204" pitchFamily="34" charset="0"/>
              <a:buChar char="•"/>
            </a:pPr>
            <a:r>
              <a:rPr lang="en-US" sz="1400" dirty="0"/>
              <a:t>The platform uses AI-driven personalization to learn user preferences such as travel style, budget range, food preferences, safety sensitivity, and sightseeing interests. Based on past trips and behavior patterns, it dynamically recommends optimized routes, suitable restaurants, ideal stay options, and customized sightseeing stops — making every journey uniquely tailored to the traveler.</a:t>
            </a:r>
          </a:p>
          <a:p>
            <a:pPr marL="114300" indent="0" algn="just"/>
            <a:endParaRPr lang="en-IN" sz="1400" dirty="0"/>
          </a:p>
        </p:txBody>
      </p:sp>
      <p:pic>
        <p:nvPicPr>
          <p:cNvPr id="65" name="Google Shape;65;p14"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66" name="Google Shape;66;p14"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dirty="0">
                <a:latin typeface="Poppins"/>
                <a:ea typeface="Poppins"/>
                <a:cs typeface="Poppins"/>
                <a:sym typeface="Poppins"/>
              </a:rPr>
              <a:t>Opportunities:-</a:t>
            </a:r>
            <a:endParaRPr sz="1620" b="1" dirty="0">
              <a:latin typeface="Poppins"/>
              <a:ea typeface="Poppins"/>
              <a:cs typeface="Poppins"/>
              <a:sym typeface="Poppins"/>
            </a:endParaRPr>
          </a:p>
        </p:txBody>
      </p:sp>
      <p:sp>
        <p:nvSpPr>
          <p:cNvPr id="73" name="Google Shape;73;p15"/>
          <p:cNvSpPr txBox="1"/>
          <p:nvPr/>
        </p:nvSpPr>
        <p:spPr>
          <a:xfrm>
            <a:off x="311700" y="1192175"/>
            <a:ext cx="8520600" cy="3653278"/>
          </a:xfrm>
          <a:prstGeom prst="rect">
            <a:avLst/>
          </a:prstGeom>
          <a:noFill/>
          <a:ln>
            <a:noFill/>
          </a:ln>
        </p:spPr>
        <p:txBody>
          <a:bodyPr spcFirstLastPara="1" wrap="square" lIns="91425" tIns="91425" rIns="91425" bIns="91425" anchor="t" anchorCtr="0">
            <a:spAutoFit/>
          </a:bodyPr>
          <a:lstStyle/>
          <a:p>
            <a:pPr marL="457200" lvl="0" indent="-317500">
              <a:lnSpc>
                <a:spcPct val="115000"/>
              </a:lnSpc>
              <a:buClr>
                <a:schemeClr val="dk1"/>
              </a:buClr>
              <a:buSzPts val="1400"/>
              <a:buFont typeface="Poppins"/>
              <a:buChar char="➔"/>
            </a:pPr>
            <a:r>
              <a:rPr lang="en-US" dirty="0"/>
              <a:t>Unlike existing travel apps that focus only on navigation, booking, or food discovery separately, our platform integrates real-time weather, traffic analysis, nearby stays, time-based restaurant suggestions, mechanic support, fuel alerts, and route-based sightseeing discovery into a single AI-powered ecosystem. It provides a complete travel assistant rather than a single-feature application.</a:t>
            </a:r>
          </a:p>
          <a:p>
            <a:pPr marL="457200" lvl="0" indent="-317500">
              <a:lnSpc>
                <a:spcPct val="115000"/>
              </a:lnSpc>
              <a:buClr>
                <a:schemeClr val="dk1"/>
              </a:buClr>
              <a:buSzPts val="1400"/>
              <a:buFont typeface="Poppins"/>
              <a:buChar char="➔"/>
            </a:pPr>
            <a:endParaRPr lang="en-US" dirty="0">
              <a:solidFill>
                <a:schemeClr val="dk1"/>
              </a:solidFill>
              <a:latin typeface="Poppins"/>
              <a:ea typeface="Poppins"/>
              <a:cs typeface="Poppins"/>
              <a:sym typeface="Poppins"/>
            </a:endParaRPr>
          </a:p>
          <a:p>
            <a:pPr marL="457200" lvl="0" indent="-317500">
              <a:lnSpc>
                <a:spcPct val="115000"/>
              </a:lnSpc>
              <a:buClr>
                <a:schemeClr val="dk1"/>
              </a:buClr>
              <a:buSzPts val="1400"/>
              <a:buFont typeface="Poppins"/>
              <a:buChar char="➔"/>
            </a:pPr>
            <a:r>
              <a:rPr lang="en-US" dirty="0"/>
              <a:t>The solution reduces travel complexity by combining multiple travel services into one intelligent platform. It optimizes routes, provides safety alerts, suggests nearby essential services, and highlights sightseeing spots along the journey, ensuring safer, smarter, and more enjoyable travel planning without switching between multiple apps.</a:t>
            </a:r>
          </a:p>
          <a:p>
            <a:pPr marL="139700" lvl="0">
              <a:lnSpc>
                <a:spcPct val="115000"/>
              </a:lnSpc>
              <a:buClr>
                <a:schemeClr val="dk1"/>
              </a:buClr>
              <a:buSzPts val="1400"/>
            </a:pPr>
            <a:endParaRPr lang="en-GB" dirty="0">
              <a:solidFill>
                <a:schemeClr val="dk1"/>
              </a:solidFill>
              <a:latin typeface="Poppins"/>
              <a:ea typeface="Poppins"/>
              <a:cs typeface="Poppins"/>
              <a:sym typeface="Poppins"/>
            </a:endParaRPr>
          </a:p>
          <a:p>
            <a:pPr marL="457200" indent="-317500">
              <a:lnSpc>
                <a:spcPct val="115000"/>
              </a:lnSpc>
              <a:buClr>
                <a:schemeClr val="dk1"/>
              </a:buClr>
              <a:buSzPts val="1400"/>
              <a:buFont typeface="Poppins"/>
              <a:buChar char="➔"/>
            </a:pPr>
            <a:r>
              <a:rPr lang="en-US" dirty="0"/>
              <a:t>An all-in-one AI-powered travel intelligence ecosystem that integrates navigation, safety monitoring, service discovery, personalization, and route-based exploration into a unified platform for all types of travelers.</a:t>
            </a:r>
          </a:p>
          <a:p>
            <a:pPr marL="457200" lvl="0" indent="-317500" algn="l" rtl="0">
              <a:lnSpc>
                <a:spcPct val="115000"/>
              </a:lnSpc>
              <a:spcBef>
                <a:spcPts val="0"/>
              </a:spcBef>
              <a:spcAft>
                <a:spcPts val="0"/>
              </a:spcAft>
              <a:buClr>
                <a:schemeClr val="dk1"/>
              </a:buClr>
              <a:buSzPts val="1400"/>
              <a:buFont typeface="Poppins"/>
              <a:buChar char="➔"/>
            </a:pPr>
            <a:endParaRPr lang="en-US" dirty="0"/>
          </a:p>
        </p:txBody>
      </p:sp>
      <p:pic>
        <p:nvPicPr>
          <p:cNvPr id="74" name="Google Shape;74;p15"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75" name="Google Shape;75;p15"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ctrTitle"/>
          </p:nvPr>
        </p:nvSpPr>
        <p:spPr>
          <a:xfrm>
            <a:off x="312250" y="589131"/>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dirty="0">
                <a:latin typeface="Poppins"/>
                <a:ea typeface="Poppins"/>
                <a:cs typeface="Poppins"/>
                <a:sym typeface="Poppins"/>
              </a:rPr>
              <a:t>List of features offered by the solution:-</a:t>
            </a:r>
            <a:endParaRPr sz="1620" b="1" dirty="0">
              <a:latin typeface="Poppins"/>
              <a:ea typeface="Poppins"/>
              <a:cs typeface="Poppins"/>
              <a:sym typeface="Poppins"/>
            </a:endParaRPr>
          </a:p>
        </p:txBody>
      </p:sp>
      <p:pic>
        <p:nvPicPr>
          <p:cNvPr id="82" name="Google Shape;82;p16"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83" name="Google Shape;83;p16"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sp>
        <p:nvSpPr>
          <p:cNvPr id="2" name="Subtitle 1">
            <a:extLst>
              <a:ext uri="{FF2B5EF4-FFF2-40B4-BE49-F238E27FC236}">
                <a16:creationId xmlns:a16="http://schemas.microsoft.com/office/drawing/2014/main" id="{B76156CC-56F3-BC9A-444D-D44D99B0DC32}"/>
              </a:ext>
            </a:extLst>
          </p:cNvPr>
          <p:cNvSpPr>
            <a:spLocks noGrp="1" noChangeArrowheads="1"/>
          </p:cNvSpPr>
          <p:nvPr>
            <p:ph type="subTitle" idx="1"/>
          </p:nvPr>
        </p:nvSpPr>
        <p:spPr bwMode="auto">
          <a:xfrm>
            <a:off x="311150" y="996345"/>
            <a:ext cx="7872668"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Smart Multi-Mode Route Planner (Bike, Car, Group Travel)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AI-Based Route Optimization (Time, Cost, Safety Balanced)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Real-Time Weather Updates &amp; Alerts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Traffic Congestion Analyzer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Fuel Prediction &amp; Nearby Fuel Station Locator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Nearby Stay Recommendations (Hotels, Hostels, Camping Options)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Time-Based Restaurant Suggestions (Breakfast, Lunch, Evening Snacks, Dinner)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Nearby Mechanic &amp; Emergency Support Locator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Route Risk Scoring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Dynamic Sightseeing Discovery Along the Travel Route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Personalized Travel Recommendation Engine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Community Reviews &amp; Safety Feedback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Group &amp; Campus Trip Coordination Tool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Carbon Footprint Tracker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Offline Mode for Remote or Low-Network Areas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Auto Trip Summary &amp; Shareable Report Generator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a:spLocks noGrp="1"/>
          </p:cNvSpPr>
          <p:nvPr>
            <p:ph type="ctrTitle"/>
          </p:nvPr>
        </p:nvSpPr>
        <p:spPr>
          <a:xfrm>
            <a:off x="311700" y="560201"/>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dirty="0">
                <a:latin typeface="Poppins"/>
                <a:ea typeface="Poppins"/>
                <a:cs typeface="Poppins"/>
                <a:sym typeface="Poppins"/>
              </a:rPr>
              <a:t>Process flow diagram or Use-case diagram</a:t>
            </a:r>
            <a:endParaRPr sz="1620" b="1" dirty="0">
              <a:latin typeface="Poppins"/>
              <a:ea typeface="Poppins"/>
              <a:cs typeface="Poppins"/>
              <a:sym typeface="Poppins"/>
            </a:endParaRPr>
          </a:p>
        </p:txBody>
      </p:sp>
      <p:pic>
        <p:nvPicPr>
          <p:cNvPr id="90" name="Google Shape;90;p17"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91" name="Google Shape;91;p17"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pic>
        <p:nvPicPr>
          <p:cNvPr id="3" name="Picture 2">
            <a:extLst>
              <a:ext uri="{FF2B5EF4-FFF2-40B4-BE49-F238E27FC236}">
                <a16:creationId xmlns:a16="http://schemas.microsoft.com/office/drawing/2014/main" id="{02A78CEC-1614-C6AB-EA8B-CF234FC3F15C}"/>
              </a:ext>
            </a:extLst>
          </p:cNvPr>
          <p:cNvPicPr>
            <a:picLocks noChangeAspect="1"/>
          </p:cNvPicPr>
          <p:nvPr/>
        </p:nvPicPr>
        <p:blipFill>
          <a:blip r:embed="rId5"/>
          <a:stretch>
            <a:fillRect/>
          </a:stretch>
        </p:blipFill>
        <p:spPr>
          <a:xfrm>
            <a:off x="2163337" y="1007802"/>
            <a:ext cx="4557131" cy="40464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a:ea typeface="Poppins"/>
                <a:cs typeface="Poppins"/>
                <a:sym typeface="Poppins"/>
              </a:rPr>
              <a:t>Wireframes/Mock diagrams of the proposed solution (optional)</a:t>
            </a:r>
            <a:endParaRPr sz="1620" b="1">
              <a:latin typeface="Poppins"/>
              <a:ea typeface="Poppins"/>
              <a:cs typeface="Poppins"/>
              <a:sym typeface="Poppins"/>
            </a:endParaRPr>
          </a:p>
        </p:txBody>
      </p:sp>
      <p:sp>
        <p:nvSpPr>
          <p:cNvPr id="97" name="Google Shape;97;p18"/>
          <p:cNvSpPr txBox="1">
            <a:spLocks noGrp="1"/>
          </p:cNvSpPr>
          <p:nvPr>
            <p:ph type="subTitle" idx="1"/>
          </p:nvPr>
        </p:nvSpPr>
        <p:spPr>
          <a:xfrm>
            <a:off x="311700" y="1249775"/>
            <a:ext cx="8520600" cy="3525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300">
                <a:latin typeface="Poppins"/>
                <a:ea typeface="Poppins"/>
                <a:cs typeface="Poppins"/>
                <a:sym typeface="Poppins"/>
              </a:rPr>
              <a:t>Type here</a:t>
            </a:r>
            <a:endParaRPr sz="1300">
              <a:latin typeface="Poppins"/>
              <a:ea typeface="Poppins"/>
              <a:cs typeface="Poppins"/>
              <a:sym typeface="Poppins"/>
            </a:endParaRPr>
          </a:p>
        </p:txBody>
      </p:sp>
      <p:pic>
        <p:nvPicPr>
          <p:cNvPr id="98" name="Google Shape;98;p18"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99" name="Google Shape;99;p18"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9"/>
          <p:cNvSpPr txBox="1">
            <a:spLocks noGrp="1"/>
          </p:cNvSpPr>
          <p:nvPr>
            <p:ph type="ctrTitle"/>
          </p:nvPr>
        </p:nvSpPr>
        <p:spPr>
          <a:xfrm>
            <a:off x="311700" y="561524"/>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dirty="0">
                <a:latin typeface="Poppins"/>
                <a:ea typeface="Poppins"/>
                <a:cs typeface="Poppins"/>
                <a:sym typeface="Poppins"/>
              </a:rPr>
              <a:t>Architecture diagram of the proposed solution</a:t>
            </a:r>
            <a:endParaRPr sz="1620" b="1" dirty="0">
              <a:latin typeface="Poppins"/>
              <a:ea typeface="Poppins"/>
              <a:cs typeface="Poppins"/>
              <a:sym typeface="Poppins"/>
            </a:endParaRPr>
          </a:p>
        </p:txBody>
      </p:sp>
      <p:pic>
        <p:nvPicPr>
          <p:cNvPr id="106" name="Google Shape;106;p19"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107" name="Google Shape;107;p19"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pic>
        <p:nvPicPr>
          <p:cNvPr id="7" name="Picture 6">
            <a:extLst>
              <a:ext uri="{FF2B5EF4-FFF2-40B4-BE49-F238E27FC236}">
                <a16:creationId xmlns:a16="http://schemas.microsoft.com/office/drawing/2014/main" id="{D739E374-BD53-950B-8712-F8E921B59482}"/>
              </a:ext>
            </a:extLst>
          </p:cNvPr>
          <p:cNvPicPr>
            <a:picLocks noChangeAspect="1"/>
          </p:cNvPicPr>
          <p:nvPr/>
        </p:nvPicPr>
        <p:blipFill>
          <a:blip r:embed="rId5"/>
          <a:stretch>
            <a:fillRect/>
          </a:stretch>
        </p:blipFill>
        <p:spPr>
          <a:xfrm>
            <a:off x="1052491" y="914399"/>
            <a:ext cx="7437303" cy="41414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dirty="0">
                <a:latin typeface="Poppins"/>
                <a:ea typeface="Poppins"/>
                <a:cs typeface="Poppins"/>
                <a:sym typeface="Poppins"/>
              </a:rPr>
              <a:t>Technologies to be used in the solution</a:t>
            </a:r>
            <a:endParaRPr sz="1620" b="1" dirty="0">
              <a:latin typeface="Poppins"/>
              <a:ea typeface="Poppins"/>
              <a:cs typeface="Poppins"/>
              <a:sym typeface="Poppins"/>
            </a:endParaRPr>
          </a:p>
        </p:txBody>
      </p:sp>
      <p:sp>
        <p:nvSpPr>
          <p:cNvPr id="113" name="Google Shape;113;p20"/>
          <p:cNvSpPr txBox="1">
            <a:spLocks noGrp="1"/>
          </p:cNvSpPr>
          <p:nvPr>
            <p:ph type="subTitle" idx="1"/>
          </p:nvPr>
        </p:nvSpPr>
        <p:spPr>
          <a:xfrm>
            <a:off x="311700" y="1249775"/>
            <a:ext cx="8520600" cy="3525000"/>
          </a:xfrm>
          <a:prstGeom prst="rect">
            <a:avLst/>
          </a:prstGeom>
        </p:spPr>
        <p:txBody>
          <a:bodyPr spcFirstLastPara="1" wrap="square" lIns="91425" tIns="91425" rIns="91425" bIns="91425" anchor="t" anchorCtr="0">
            <a:normAutofit fontScale="47500" lnSpcReduction="20000"/>
          </a:bodyPr>
          <a:lstStyle/>
          <a:p>
            <a:pPr algn="just"/>
            <a:endParaRPr lang="en-IN" sz="1400" dirty="0"/>
          </a:p>
          <a:p>
            <a:pPr algn="just">
              <a:lnSpc>
                <a:spcPct val="120000"/>
              </a:lnSpc>
              <a:buFont typeface="Wingdings" panose="05000000000000000000" pitchFamily="2" charset="2"/>
              <a:buChar char="§"/>
            </a:pPr>
            <a:r>
              <a:rPr lang="en-IN" sz="3200" b="1" dirty="0"/>
              <a:t>Firebase</a:t>
            </a:r>
            <a:r>
              <a:rPr lang="en-IN" sz="3200" dirty="0"/>
              <a:t> – Authentication, Cloud </a:t>
            </a:r>
            <a:r>
              <a:rPr lang="en-IN" sz="3200" dirty="0" err="1"/>
              <a:t>Firestore</a:t>
            </a:r>
            <a:r>
              <a:rPr lang="en-IN" sz="3200" dirty="0"/>
              <a:t> Database, and Real-time Data Sync</a:t>
            </a:r>
          </a:p>
          <a:p>
            <a:pPr algn="just">
              <a:lnSpc>
                <a:spcPct val="120000"/>
              </a:lnSpc>
              <a:buFont typeface="Wingdings" panose="05000000000000000000" pitchFamily="2" charset="2"/>
              <a:buChar char="§"/>
            </a:pPr>
            <a:r>
              <a:rPr lang="en-IN" sz="3200" b="1" dirty="0"/>
              <a:t>Node.js</a:t>
            </a:r>
            <a:r>
              <a:rPr lang="en-IN" sz="3200" dirty="0"/>
              <a:t> – Backend server and API management</a:t>
            </a:r>
          </a:p>
          <a:p>
            <a:pPr algn="just">
              <a:lnSpc>
                <a:spcPct val="120000"/>
              </a:lnSpc>
              <a:buFont typeface="Wingdings" panose="05000000000000000000" pitchFamily="2" charset="2"/>
              <a:buChar char="§"/>
            </a:pPr>
            <a:r>
              <a:rPr lang="en-IN" sz="3200" b="1" dirty="0"/>
              <a:t>Python</a:t>
            </a:r>
            <a:r>
              <a:rPr lang="en-IN" sz="3200" dirty="0"/>
              <a:t> – AI/ML models for route optimization, risk scoring, and personalization</a:t>
            </a:r>
          </a:p>
          <a:p>
            <a:pPr algn="just">
              <a:lnSpc>
                <a:spcPct val="120000"/>
              </a:lnSpc>
              <a:buFont typeface="Wingdings" panose="05000000000000000000" pitchFamily="2" charset="2"/>
              <a:buChar char="§"/>
            </a:pPr>
            <a:r>
              <a:rPr lang="en-IN" sz="3200" b="1" dirty="0"/>
              <a:t>Machine Learning Algorithms</a:t>
            </a:r>
            <a:r>
              <a:rPr lang="en-IN" sz="3200" dirty="0"/>
              <a:t> – Recommendation systems and predictive analytics</a:t>
            </a:r>
          </a:p>
          <a:p>
            <a:pPr algn="just">
              <a:lnSpc>
                <a:spcPct val="120000"/>
              </a:lnSpc>
              <a:buFont typeface="Wingdings" panose="05000000000000000000" pitchFamily="2" charset="2"/>
              <a:buChar char="§"/>
            </a:pPr>
            <a:r>
              <a:rPr lang="en-IN" sz="3200" b="1" dirty="0"/>
              <a:t>RESTful APIs</a:t>
            </a:r>
            <a:r>
              <a:rPr lang="en-IN" sz="3200" dirty="0"/>
              <a:t> – Integration with external services</a:t>
            </a:r>
          </a:p>
          <a:p>
            <a:pPr algn="just">
              <a:lnSpc>
                <a:spcPct val="120000"/>
              </a:lnSpc>
              <a:buFont typeface="Wingdings" panose="05000000000000000000" pitchFamily="2" charset="2"/>
              <a:buChar char="§"/>
            </a:pPr>
            <a:r>
              <a:rPr lang="en-IN" sz="3200" b="1" dirty="0"/>
              <a:t>Maps API (Google Maps / OpenStreetMap)</a:t>
            </a:r>
            <a:r>
              <a:rPr lang="en-IN" sz="3200" dirty="0"/>
              <a:t> – Navigation and geolocation services</a:t>
            </a:r>
          </a:p>
          <a:p>
            <a:pPr algn="just">
              <a:lnSpc>
                <a:spcPct val="120000"/>
              </a:lnSpc>
              <a:buFont typeface="Wingdings" panose="05000000000000000000" pitchFamily="2" charset="2"/>
              <a:buChar char="§"/>
            </a:pPr>
            <a:r>
              <a:rPr lang="en-IN" sz="3200" b="1" dirty="0"/>
              <a:t>Weather API Integration</a:t>
            </a:r>
            <a:r>
              <a:rPr lang="en-IN" sz="3200" dirty="0"/>
              <a:t> – Real-time weather updates and forecasts</a:t>
            </a:r>
          </a:p>
          <a:p>
            <a:pPr algn="just">
              <a:lnSpc>
                <a:spcPct val="120000"/>
              </a:lnSpc>
              <a:buFont typeface="Wingdings" panose="05000000000000000000" pitchFamily="2" charset="2"/>
              <a:buChar char="§"/>
            </a:pPr>
            <a:r>
              <a:rPr lang="en-IN" sz="3200" b="1" dirty="0"/>
              <a:t>Places API</a:t>
            </a:r>
            <a:r>
              <a:rPr lang="en-IN" sz="3200" dirty="0"/>
              <a:t> – Nearby restaurants, stays, sightseeing spots, mechanic shops</a:t>
            </a:r>
          </a:p>
          <a:p>
            <a:pPr algn="just">
              <a:lnSpc>
                <a:spcPct val="120000"/>
              </a:lnSpc>
              <a:buFont typeface="Wingdings" panose="05000000000000000000" pitchFamily="2" charset="2"/>
              <a:buChar char="§"/>
            </a:pPr>
            <a:r>
              <a:rPr lang="en-IN" sz="3200" b="1" dirty="0"/>
              <a:t>Geospatial Data Processing</a:t>
            </a:r>
            <a:r>
              <a:rPr lang="en-IN" sz="3200" dirty="0"/>
              <a:t> – Route analysis and point-of-interest detection</a:t>
            </a:r>
          </a:p>
          <a:p>
            <a:pPr algn="just">
              <a:lnSpc>
                <a:spcPct val="120000"/>
              </a:lnSpc>
              <a:buFont typeface="Wingdings" panose="05000000000000000000" pitchFamily="2" charset="2"/>
              <a:buChar char="§"/>
            </a:pPr>
            <a:r>
              <a:rPr lang="en-IN" sz="3200" b="1" dirty="0"/>
              <a:t>Cloud Hosting (Firebase / Cloud Platform)</a:t>
            </a:r>
            <a:r>
              <a:rPr lang="en-IN" sz="3200" dirty="0"/>
              <a:t> – Scalable deployment</a:t>
            </a:r>
          </a:p>
          <a:p>
            <a:pPr algn="just">
              <a:lnSpc>
                <a:spcPct val="120000"/>
              </a:lnSpc>
              <a:buFont typeface="Wingdings" panose="05000000000000000000" pitchFamily="2" charset="2"/>
              <a:buChar char="§"/>
            </a:pPr>
            <a:r>
              <a:rPr lang="en-IN" sz="3200" b="1" dirty="0"/>
              <a:t>Push Notification Service</a:t>
            </a:r>
            <a:r>
              <a:rPr lang="en-IN" sz="3200" dirty="0"/>
              <a:t> – Real-time alerts and emergency notifications</a:t>
            </a:r>
          </a:p>
          <a:p>
            <a:pPr algn="just">
              <a:lnSpc>
                <a:spcPct val="120000"/>
              </a:lnSpc>
              <a:buFont typeface="Wingdings" panose="05000000000000000000" pitchFamily="2" charset="2"/>
              <a:buChar char="§"/>
            </a:pPr>
            <a:r>
              <a:rPr lang="en-IN" sz="3200" b="1" dirty="0"/>
              <a:t>Data Analytics Tools</a:t>
            </a:r>
            <a:r>
              <a:rPr lang="en-IN" sz="3200" dirty="0"/>
              <a:t> – Travel insights and performance monitoring</a:t>
            </a:r>
          </a:p>
          <a:p>
            <a:pPr algn="just">
              <a:lnSpc>
                <a:spcPct val="120000"/>
              </a:lnSpc>
              <a:buFont typeface="Wingdings" panose="05000000000000000000" pitchFamily="2" charset="2"/>
              <a:buChar char="§"/>
            </a:pPr>
            <a:r>
              <a:rPr lang="en-IN" sz="3200" b="1" dirty="0"/>
              <a:t>Offline Data Caching Technology</a:t>
            </a:r>
            <a:r>
              <a:rPr lang="en-IN" sz="3200" dirty="0"/>
              <a:t> – Support in low-network areas</a:t>
            </a:r>
          </a:p>
          <a:p>
            <a:pPr marL="0" lvl="0" indent="0" algn="just" rtl="0">
              <a:spcBef>
                <a:spcPts val="0"/>
              </a:spcBef>
              <a:spcAft>
                <a:spcPts val="0"/>
              </a:spcAft>
              <a:buNone/>
            </a:pPr>
            <a:endParaRPr sz="1300" dirty="0">
              <a:latin typeface="Poppins"/>
              <a:ea typeface="Poppins"/>
              <a:cs typeface="Poppins"/>
              <a:sym typeface="Poppins"/>
            </a:endParaRPr>
          </a:p>
        </p:txBody>
      </p:sp>
      <p:pic>
        <p:nvPicPr>
          <p:cNvPr id="114" name="Google Shape;114;p20"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115" name="Google Shape;115;p20"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1"/>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dirty="0">
                <a:latin typeface="Poppins"/>
                <a:ea typeface="Poppins"/>
                <a:cs typeface="Poppins"/>
                <a:sym typeface="Poppins"/>
              </a:rPr>
              <a:t>Usage of AMD Products/Solutions</a:t>
            </a:r>
            <a:endParaRPr sz="1620" b="1" dirty="0">
              <a:latin typeface="Poppins"/>
              <a:ea typeface="Poppins"/>
              <a:cs typeface="Poppins"/>
              <a:sym typeface="Poppins"/>
            </a:endParaRPr>
          </a:p>
        </p:txBody>
      </p:sp>
      <p:sp>
        <p:nvSpPr>
          <p:cNvPr id="121" name="Google Shape;121;p21"/>
          <p:cNvSpPr txBox="1">
            <a:spLocks noGrp="1"/>
          </p:cNvSpPr>
          <p:nvPr>
            <p:ph type="subTitle" idx="1"/>
          </p:nvPr>
        </p:nvSpPr>
        <p:spPr>
          <a:xfrm>
            <a:off x="311700" y="1249775"/>
            <a:ext cx="8520600" cy="3525000"/>
          </a:xfrm>
          <a:prstGeom prst="rect">
            <a:avLst/>
          </a:prstGeom>
        </p:spPr>
        <p:txBody>
          <a:bodyPr spcFirstLastPara="1" wrap="square" lIns="91425" tIns="91425" rIns="91425" bIns="91425" anchor="t" anchorCtr="0">
            <a:normAutofit/>
          </a:bodyPr>
          <a:lstStyle/>
          <a:p>
            <a:pPr algn="just">
              <a:buFont typeface="Arial" panose="020B0604020202020204" pitchFamily="34" charset="0"/>
              <a:buChar char="•"/>
            </a:pPr>
            <a:r>
              <a:rPr lang="en-US" sz="1400" b="1" dirty="0"/>
              <a:t>AMD Ryzen™ Processors</a:t>
            </a:r>
            <a:r>
              <a:rPr lang="en-US" sz="1400" dirty="0"/>
              <a:t> – Used for high-performance development, backend processing, and training AI/ML models for route optimization, traffic analysis, and risk scoring.</a:t>
            </a:r>
          </a:p>
          <a:p>
            <a:pPr algn="just">
              <a:buFont typeface="Arial" panose="020B0604020202020204" pitchFamily="34" charset="0"/>
              <a:buChar char="•"/>
            </a:pPr>
            <a:endParaRPr lang="en-US" sz="1400" dirty="0"/>
          </a:p>
          <a:p>
            <a:pPr algn="just">
              <a:buFont typeface="Arial" panose="020B0604020202020204" pitchFamily="34" charset="0"/>
              <a:buChar char="•"/>
            </a:pPr>
            <a:r>
              <a:rPr lang="en-US" sz="1400" b="1" dirty="0"/>
              <a:t>AMD Radeon™ GPUs</a:t>
            </a:r>
            <a:r>
              <a:rPr lang="en-US" sz="1400" dirty="0"/>
              <a:t> – Utilized for accelerating machine learning computations, geospatial data processing, and real-time route analytics.</a:t>
            </a:r>
          </a:p>
          <a:p>
            <a:pPr algn="just">
              <a:buFont typeface="Arial" panose="020B0604020202020204" pitchFamily="34" charset="0"/>
              <a:buChar char="•"/>
            </a:pPr>
            <a:endParaRPr lang="en-US" sz="1400" dirty="0"/>
          </a:p>
          <a:p>
            <a:pPr algn="just">
              <a:buFont typeface="Arial" panose="020B0604020202020204" pitchFamily="34" charset="0"/>
              <a:buChar char="•"/>
            </a:pPr>
            <a:r>
              <a:rPr lang="en-US" sz="1400" b="1" dirty="0"/>
              <a:t>AMD-Powered Systems for Model Training</a:t>
            </a:r>
            <a:r>
              <a:rPr lang="en-US" sz="1400" dirty="0"/>
              <a:t> – Heavy AI workloads such as predictive weather modeling, personalization engines, and traffic data analysis can be optimized using AMD’s multi-core architecture for faster computation.</a:t>
            </a:r>
          </a:p>
          <a:p>
            <a:pPr algn="just">
              <a:buFont typeface="Arial" panose="020B0604020202020204" pitchFamily="34" charset="0"/>
              <a:buChar char="•"/>
            </a:pPr>
            <a:endParaRPr lang="en-US" sz="1400" dirty="0"/>
          </a:p>
          <a:p>
            <a:pPr algn="just">
              <a:buFont typeface="Arial" panose="020B0604020202020204" pitchFamily="34" charset="0"/>
              <a:buChar char="•"/>
            </a:pPr>
            <a:r>
              <a:rPr lang="en-US" sz="1400" b="1" dirty="0"/>
              <a:t>Parallel Processing with AMD Architecture</a:t>
            </a:r>
            <a:r>
              <a:rPr lang="en-US" sz="1400" dirty="0"/>
              <a:t> – Enables efficient handling of large-scale travel datasets, including route mapping, location intelligence, and real-time recommendation systems.</a:t>
            </a:r>
          </a:p>
          <a:p>
            <a:pPr marL="114300" indent="0" algn="just"/>
            <a:endParaRPr lang="en-US" sz="1400" dirty="0"/>
          </a:p>
          <a:p>
            <a:pPr algn="just">
              <a:buFont typeface="Arial" panose="020B0604020202020204" pitchFamily="34" charset="0"/>
              <a:buChar char="•"/>
            </a:pPr>
            <a:r>
              <a:rPr lang="en-US" sz="1400" b="1" dirty="0"/>
              <a:t>Scalable Deployment &amp; Testing</a:t>
            </a:r>
            <a:r>
              <a:rPr lang="en-US" sz="1400" dirty="0"/>
              <a:t> – Application backend and simulation testing can be optimized on AMD-powered cloud or workstation environments for performance efficiency.</a:t>
            </a:r>
          </a:p>
          <a:p>
            <a:pPr marL="285750" lvl="0" indent="-285750" algn="just" rtl="0">
              <a:spcBef>
                <a:spcPts val="0"/>
              </a:spcBef>
              <a:spcAft>
                <a:spcPts val="0"/>
              </a:spcAft>
              <a:buFont typeface="Arial" panose="020B0604020202020204" pitchFamily="34" charset="0"/>
              <a:buChar char="•"/>
            </a:pPr>
            <a:endParaRPr sz="1300" dirty="0">
              <a:latin typeface="Poppins"/>
              <a:ea typeface="Poppins"/>
              <a:cs typeface="Poppins"/>
              <a:sym typeface="Poppins"/>
            </a:endParaRPr>
          </a:p>
        </p:txBody>
      </p:sp>
      <p:pic>
        <p:nvPicPr>
          <p:cNvPr id="122" name="Google Shape;122;p21"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123" name="Google Shape;123;p21"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2"/>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a:ea typeface="Poppins"/>
                <a:cs typeface="Poppins"/>
                <a:sym typeface="Poppins"/>
              </a:rPr>
              <a:t>Estimated implementation cost (optional)</a:t>
            </a:r>
            <a:endParaRPr sz="1620" b="1">
              <a:latin typeface="Poppins"/>
              <a:ea typeface="Poppins"/>
              <a:cs typeface="Poppins"/>
              <a:sym typeface="Poppins"/>
            </a:endParaRPr>
          </a:p>
        </p:txBody>
      </p:sp>
      <p:sp>
        <p:nvSpPr>
          <p:cNvPr id="129" name="Google Shape;129;p22"/>
          <p:cNvSpPr txBox="1">
            <a:spLocks noGrp="1"/>
          </p:cNvSpPr>
          <p:nvPr>
            <p:ph type="subTitle" idx="1"/>
          </p:nvPr>
        </p:nvSpPr>
        <p:spPr>
          <a:xfrm>
            <a:off x="311700" y="1249775"/>
            <a:ext cx="8520600" cy="3525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300">
                <a:latin typeface="Poppins"/>
                <a:ea typeface="Poppins"/>
                <a:cs typeface="Poppins"/>
                <a:sym typeface="Poppins"/>
              </a:rPr>
              <a:t>Type here</a:t>
            </a:r>
            <a:endParaRPr sz="1300">
              <a:latin typeface="Poppins"/>
              <a:ea typeface="Poppins"/>
              <a:cs typeface="Poppins"/>
              <a:sym typeface="Poppins"/>
            </a:endParaRPr>
          </a:p>
        </p:txBody>
      </p:sp>
      <p:pic>
        <p:nvPicPr>
          <p:cNvPr id="130" name="Google Shape;130;p22"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131" name="Google Shape;131;p22"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7" name="Google Shape;137;p23"/>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a:ea typeface="Poppins"/>
                <a:cs typeface="Poppins"/>
                <a:sym typeface="Poppins"/>
              </a:rPr>
              <a:t>Prototype Assets (Optional)</a:t>
            </a:r>
            <a:endParaRPr sz="1620" b="1">
              <a:latin typeface="Poppins"/>
              <a:ea typeface="Poppins"/>
              <a:cs typeface="Poppins"/>
              <a:sym typeface="Poppins"/>
            </a:endParaRPr>
          </a:p>
        </p:txBody>
      </p:sp>
      <p:sp>
        <p:nvSpPr>
          <p:cNvPr id="138" name="Google Shape;138;p23"/>
          <p:cNvSpPr txBox="1"/>
          <p:nvPr/>
        </p:nvSpPr>
        <p:spPr>
          <a:xfrm>
            <a:off x="311700" y="1192175"/>
            <a:ext cx="8520600" cy="1423436"/>
          </a:xfrm>
          <a:prstGeom prst="rect">
            <a:avLst/>
          </a:prstGeom>
          <a:noFill/>
          <a:ln>
            <a:noFill/>
          </a:ln>
        </p:spPr>
        <p:txBody>
          <a:bodyPr spcFirstLastPara="1" wrap="square" lIns="91425" tIns="91425" rIns="91425" bIns="91425" anchor="t" anchorCtr="0">
            <a:spAutoFit/>
          </a:bodyPr>
          <a:lstStyle/>
          <a:p>
            <a:pPr marL="457200" lvl="0" indent="-317500">
              <a:lnSpc>
                <a:spcPct val="115000"/>
              </a:lnSpc>
              <a:buClr>
                <a:schemeClr val="dk1"/>
              </a:buClr>
              <a:buSzPts val="1400"/>
              <a:buFont typeface="Poppins"/>
              <a:buChar char="➔"/>
            </a:pPr>
            <a:r>
              <a:rPr lang="en-GB" dirty="0">
                <a:solidFill>
                  <a:schemeClr val="dk1"/>
                </a:solidFill>
                <a:latin typeface="Poppins"/>
                <a:ea typeface="Poppins"/>
                <a:cs typeface="Poppins"/>
                <a:sym typeface="Poppins"/>
              </a:rPr>
              <a:t>GitHub Public Repository Link:-</a:t>
            </a:r>
            <a:r>
              <a:rPr lang="en-GB" dirty="0">
                <a:solidFill>
                  <a:schemeClr val="dk1"/>
                </a:solidFill>
                <a:latin typeface="Poppins"/>
                <a:ea typeface="Poppins"/>
                <a:cs typeface="Poppins"/>
                <a:sym typeface="Poppins"/>
                <a:hlinkClick r:id="rId3"/>
              </a:rPr>
              <a:t>https://github.com/Sumit648527/AMD</a:t>
            </a:r>
            <a:endParaRPr lang="en-GB" dirty="0">
              <a:solidFill>
                <a:schemeClr val="dk1"/>
              </a:solidFill>
              <a:latin typeface="Poppins"/>
              <a:ea typeface="Poppins"/>
              <a:cs typeface="Poppins"/>
              <a:sym typeface="Poppins"/>
            </a:endParaRPr>
          </a:p>
          <a:p>
            <a:pPr marL="139700" lvl="0">
              <a:lnSpc>
                <a:spcPct val="115000"/>
              </a:lnSpc>
              <a:buClr>
                <a:schemeClr val="dk1"/>
              </a:buClr>
              <a:buSzPts val="1400"/>
            </a:pPr>
            <a:endParaRPr dirty="0">
              <a:solidFill>
                <a:schemeClr val="dk1"/>
              </a:solidFill>
              <a:latin typeface="Poppins"/>
              <a:ea typeface="Poppins"/>
              <a:cs typeface="Poppins"/>
              <a:sym typeface="Poppins"/>
            </a:endParaRPr>
          </a:p>
          <a:p>
            <a:pPr marL="457200" lvl="0" indent="-317500">
              <a:lnSpc>
                <a:spcPct val="115000"/>
              </a:lnSpc>
              <a:buClr>
                <a:schemeClr val="dk1"/>
              </a:buClr>
              <a:buSzPts val="1400"/>
              <a:buFont typeface="Poppins"/>
              <a:buChar char="➔"/>
            </a:pPr>
            <a:r>
              <a:rPr lang="en-GB" dirty="0">
                <a:solidFill>
                  <a:schemeClr val="dk1"/>
                </a:solidFill>
                <a:latin typeface="Poppins"/>
                <a:ea typeface="Poppins"/>
                <a:cs typeface="Poppins"/>
                <a:sym typeface="Poppins"/>
              </a:rPr>
              <a:t>Demo Video Link:-</a:t>
            </a:r>
            <a:r>
              <a:rPr lang="en-GB" dirty="0">
                <a:solidFill>
                  <a:schemeClr val="dk1"/>
                </a:solidFill>
                <a:latin typeface="Poppins"/>
                <a:ea typeface="Poppins"/>
                <a:cs typeface="Poppins"/>
                <a:sym typeface="Poppins"/>
                <a:hlinkClick r:id="rId4"/>
              </a:rPr>
              <a:t>https://drive.google.com/drive/folders/1jiCzmENKc11uaTdsBxFibxbZekCuKcde?usp=sharing</a:t>
            </a:r>
            <a:endParaRPr dirty="0"/>
          </a:p>
        </p:txBody>
      </p:sp>
      <p:pic>
        <p:nvPicPr>
          <p:cNvPr id="139" name="Google Shape;139;p23" title="AMD.PS.S22.png"/>
          <p:cNvPicPr preferRelativeResize="0"/>
          <p:nvPr/>
        </p:nvPicPr>
        <p:blipFill rotWithShape="1">
          <a:blip r:embed="rId5">
            <a:alphaModFix/>
          </a:blip>
          <a:srcRect b="89082"/>
          <a:stretch/>
        </p:blipFill>
        <p:spPr>
          <a:xfrm>
            <a:off x="0" y="0"/>
            <a:ext cx="9144000" cy="561524"/>
          </a:xfrm>
          <a:prstGeom prst="rect">
            <a:avLst/>
          </a:prstGeom>
          <a:noFill/>
          <a:ln>
            <a:noFill/>
          </a:ln>
        </p:spPr>
      </p:pic>
      <p:pic>
        <p:nvPicPr>
          <p:cNvPr id="140" name="Google Shape;140;p23" title="AMD.PS.S11.png"/>
          <p:cNvPicPr preferRelativeResize="0"/>
          <p:nvPr/>
        </p:nvPicPr>
        <p:blipFill rotWithShape="1">
          <a:blip r:embed="rId6">
            <a:alphaModFix/>
          </a:blip>
          <a:srcRect t="98295"/>
          <a:stretch/>
        </p:blipFill>
        <p:spPr>
          <a:xfrm>
            <a:off x="0" y="5055825"/>
            <a:ext cx="9144000" cy="876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4"/>
          <p:cNvSpPr txBox="1">
            <a:spLocks noGrp="1"/>
          </p:cNvSpPr>
          <p:nvPr>
            <p:ph type="subTitle" idx="1"/>
          </p:nvPr>
        </p:nvSpPr>
        <p:spPr>
          <a:xfrm>
            <a:off x="311700" y="1285750"/>
            <a:ext cx="8520600" cy="3489000"/>
          </a:xfrm>
          <a:prstGeom prst="rect">
            <a:avLst/>
          </a:prstGeom>
        </p:spPr>
        <p:txBody>
          <a:bodyPr spcFirstLastPara="1" wrap="square" lIns="91425" tIns="91425" rIns="91425" bIns="91425" anchor="t" anchorCtr="0">
            <a:normAutofit lnSpcReduction="10000"/>
          </a:bodyPr>
          <a:lstStyle/>
          <a:p>
            <a:pPr algn="just"/>
            <a:r>
              <a:rPr lang="en-US" sz="1400" dirty="0"/>
              <a:t>      Our proposed solution aligns with the contest objectives by delivering an AI-driven, scalable, and high-performance travel intelligence platform that integrates real-time mobility analytics, predictive modeling, and personalized recommendation systems. The application leverages advanced computing capabilities for route optimization, weather-risk analysis, traffic modeling, and geospatial data processing.</a:t>
            </a:r>
          </a:p>
          <a:p>
            <a:pPr algn="just"/>
            <a:endParaRPr lang="en-US" sz="1400" dirty="0"/>
          </a:p>
          <a:p>
            <a:pPr algn="just"/>
            <a:r>
              <a:rPr lang="en-US" sz="1400" dirty="0"/>
              <a:t> </a:t>
            </a:r>
            <a:r>
              <a:rPr lang="en-US" sz="1400" b="1" dirty="0"/>
              <a:t>The system is designed to:</a:t>
            </a:r>
          </a:p>
          <a:p>
            <a:pPr algn="just">
              <a:buFont typeface="Arial" panose="020B0604020202020204" pitchFamily="34" charset="0"/>
              <a:buChar char="•"/>
            </a:pPr>
            <a:r>
              <a:rPr lang="en-US" sz="1400" dirty="0"/>
              <a:t>Demonstrate innovation in smart mobility and intelligent travel planning</a:t>
            </a:r>
          </a:p>
          <a:p>
            <a:pPr algn="just">
              <a:buFont typeface="Arial" panose="020B0604020202020204" pitchFamily="34" charset="0"/>
              <a:buChar char="•"/>
            </a:pPr>
            <a:r>
              <a:rPr lang="en-US" sz="1400" dirty="0"/>
              <a:t>Utilize AI/ML models accelerated on AMD-powered systems</a:t>
            </a:r>
          </a:p>
          <a:p>
            <a:pPr algn="just">
              <a:buFont typeface="Arial" panose="020B0604020202020204" pitchFamily="34" charset="0"/>
              <a:buChar char="•"/>
            </a:pPr>
            <a:r>
              <a:rPr lang="en-US" sz="1400" dirty="0"/>
              <a:t>Showcase scalable cloud-based architecture</a:t>
            </a:r>
          </a:p>
          <a:p>
            <a:pPr algn="just">
              <a:buFont typeface="Arial" panose="020B0604020202020204" pitchFamily="34" charset="0"/>
              <a:buChar char="•"/>
            </a:pPr>
            <a:r>
              <a:rPr lang="en-US" sz="1400" dirty="0"/>
              <a:t>Address real-world travel planning challenges with practical implementation</a:t>
            </a:r>
          </a:p>
          <a:p>
            <a:pPr algn="just">
              <a:buFont typeface="Arial" panose="020B0604020202020204" pitchFamily="34" charset="0"/>
              <a:buChar char="•"/>
            </a:pPr>
            <a:r>
              <a:rPr lang="en-US" sz="1400" dirty="0"/>
              <a:t>Promote sustainable mobility through carbon tracking and optimized routing</a:t>
            </a:r>
          </a:p>
          <a:p>
            <a:pPr algn="just"/>
            <a:endParaRPr lang="en-US" sz="1400" dirty="0"/>
          </a:p>
          <a:p>
            <a:pPr algn="just"/>
            <a:r>
              <a:rPr lang="en-US" sz="1400" dirty="0"/>
              <a:t>       The prototype will include a working mobile interface, integrated APIs, and an AI-based route intelligence engine to demonstrate feasibility and technical depth, ensuring alignment with the technical and innovation benchmarks of the competition.</a:t>
            </a:r>
          </a:p>
          <a:p>
            <a:pPr marL="0" lvl="0" indent="0" algn="just" rtl="0">
              <a:spcBef>
                <a:spcPts val="0"/>
              </a:spcBef>
              <a:spcAft>
                <a:spcPts val="0"/>
              </a:spcAft>
              <a:buNone/>
            </a:pPr>
            <a:endParaRPr sz="1300" dirty="0">
              <a:latin typeface="Poppins"/>
              <a:ea typeface="Poppins"/>
              <a:cs typeface="Poppins"/>
              <a:sym typeface="Poppins"/>
            </a:endParaRPr>
          </a:p>
        </p:txBody>
      </p:sp>
      <p:sp>
        <p:nvSpPr>
          <p:cNvPr id="146" name="Google Shape;146;p24"/>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dirty="0">
                <a:latin typeface="Poppins"/>
                <a:ea typeface="Poppins"/>
                <a:cs typeface="Poppins"/>
                <a:sym typeface="Poppins"/>
              </a:rPr>
              <a:t>Add as per the requirements of the contest</a:t>
            </a:r>
            <a:endParaRPr sz="1620" b="1" dirty="0">
              <a:latin typeface="Poppins"/>
              <a:ea typeface="Poppins"/>
              <a:cs typeface="Poppins"/>
              <a:sym typeface="Poppins"/>
            </a:endParaRPr>
          </a:p>
        </p:txBody>
      </p:sp>
      <p:pic>
        <p:nvPicPr>
          <p:cNvPr id="147" name="Google Shape;147;p24"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148" name="Google Shape;148;p24"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pic>
        <p:nvPicPr>
          <p:cNvPr id="153" name="Google Shape;153;p25"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154" name="Google Shape;154;p25"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sp>
        <p:nvSpPr>
          <p:cNvPr id="2" name="TextBox 1">
            <a:extLst>
              <a:ext uri="{FF2B5EF4-FFF2-40B4-BE49-F238E27FC236}">
                <a16:creationId xmlns:a16="http://schemas.microsoft.com/office/drawing/2014/main" id="{0B017170-7713-5A11-E3FA-164D990AE60D}"/>
              </a:ext>
            </a:extLst>
          </p:cNvPr>
          <p:cNvSpPr txBox="1"/>
          <p:nvPr/>
        </p:nvSpPr>
        <p:spPr>
          <a:xfrm>
            <a:off x="341971" y="884663"/>
            <a:ext cx="8147824" cy="3416320"/>
          </a:xfrm>
          <a:prstGeom prst="rect">
            <a:avLst/>
          </a:prstGeom>
          <a:noFill/>
        </p:spPr>
        <p:txBody>
          <a:bodyPr wrap="square" rtlCol="0">
            <a:spAutoFit/>
          </a:bodyPr>
          <a:lstStyle/>
          <a:p>
            <a:r>
              <a:rPr lang="en-US" sz="1800" dirty="0"/>
              <a:t>Our project is an AI-powered Smart Travel Intelligence Ecosystem designed for all types of travelers. Many travelers currently depend on multiple disconnected applications for navigation, weather updates, traffic monitoring, accommodation booking, food discovery, fuel stations, and sightseeing information, which makes planning inefficient and complicated. Our solution integrates all these features into one unified platform. It offers AI-driven route optimization, real-time weather and traffic insights, time-based restaurant suggestions, nearby stay recommendations, mechanic and fuel station locators, and dynamic sightseeing discovery along travel routes. Built on scalable architecture and high-performance computing, the system enhances safety, personalization, convenience, and overall travel efficiency, creating a smarter and more seamless travel experience.</a:t>
            </a:r>
            <a:endParaRPr lang="en-IN"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7"/>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66" name="Google Shape;166;p27"/>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67" name="Google Shape;167;p27" title="AMD.PS.S33.png"/>
          <p:cNvPicPr preferRelativeResize="0"/>
          <p:nvPr/>
        </p:nvPicPr>
        <p:blipFill rotWithShape="1">
          <a:blip r:embed="rId3">
            <a:alphaModFix/>
          </a:blip>
          <a:src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1168</Words>
  <Application>Microsoft Office PowerPoint</Application>
  <PresentationFormat>On-screen Show (16:9)</PresentationFormat>
  <Paragraphs>82</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Poppins</vt:lpstr>
      <vt:lpstr>Arial</vt:lpstr>
      <vt:lpstr>Wingdings</vt:lpstr>
      <vt:lpstr>Simple Light</vt:lpstr>
      <vt:lpstr>PowerPoint Presentation</vt:lpstr>
      <vt:lpstr>Brief about the idea</vt:lpstr>
      <vt:lpstr>Opportunities:-</vt:lpstr>
      <vt:lpstr>List of features offered by the solution:-</vt:lpstr>
      <vt:lpstr>Process flow diagram or Use-case diagram</vt:lpstr>
      <vt:lpstr>Wireframes/Mock diagrams of the proposed solution (optional)</vt:lpstr>
      <vt:lpstr>Architecture diagram of the proposed solution</vt:lpstr>
      <vt:lpstr>Technologies to be used in the solution</vt:lpstr>
      <vt:lpstr>Usage of AMD Products/Solutions</vt:lpstr>
      <vt:lpstr>Estimated implementation cost (optional)</vt:lpstr>
      <vt:lpstr>Prototype Assets (Optional)</vt:lpstr>
      <vt:lpstr>Add as per the requirements of the contest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PALLAB BHATTACHARYYA</dc:creator>
  <cp:lastModifiedBy>PALLAB BHATTACHARYYA</cp:lastModifiedBy>
  <cp:revision>3</cp:revision>
  <dcterms:modified xsi:type="dcterms:W3CDTF">2026-02-28T18:38:02Z</dcterms:modified>
</cp:coreProperties>
</file>